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embeddedFontLst>
    <p:embeddedFont>
      <p:font typeface="Century Gothic" panose="020B0502020202020204" pitchFamily="34" charset="0"/>
      <p:regular r:id="rId26"/>
      <p:bold r:id="rId27"/>
      <p:italic r:id="rId28"/>
      <p:boldItalic r:id="rId29"/>
    </p:embeddedFont>
    <p:embeddedFont>
      <p:font typeface="Noto Sans Symbols" pitchFamily="2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iwHegioWfXA4ETgDg3vqeRxahy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E0A92E-3E29-4745-B6D7-8334E3B4AEC4}">
  <a:tblStyle styleId="{41E0A92E-3E29-4745-B6D7-8334E3B4AE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1"/>
    <p:restoredTop sz="94649"/>
  </p:normalViewPr>
  <p:slideViewPr>
    <p:cSldViewPr snapToGrid="0">
      <p:cViewPr varScale="1">
        <p:scale>
          <a:sx n="140" d="100"/>
          <a:sy n="140" d="100"/>
        </p:scale>
        <p:origin x="196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3" name="Google Shape;2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0" name="Google Shape;2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6" name="Google Shape;2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2" name="Google Shape;2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9" name="Google Shape;2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1" name="Google Shape;3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4" name="Google Shape;3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1" name="Google Shape;3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7" name="Google Shape;3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3" name="Google Shape;3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9" name="Google Shape;3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b636fb767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7" name="Google Shape;347;g3ab636fb767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4" name="Google Shape;3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1" name="Google Shape;3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3" name="Google Shape;3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b636fb767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0" name="Google Shape;380;g3ab636fb767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b636fb767_1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6" name="Google Shape;386;g3ab636fb767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b636fb767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2" name="Google Shape;392;g3ab636fb767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8" name="Google Shape;39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4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24" name="Google Shape;24;p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0" r="-1698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" name="Google Shape;25;p2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7F5F52">
                    <a:alpha val="7450"/>
                  </a:srgbClr>
                </a:gs>
                <a:gs pos="36000">
                  <a:srgbClr val="7F5F52">
                    <a:alpha val="7450"/>
                  </a:srgbClr>
                </a:gs>
                <a:gs pos="72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" name="Google Shape;26;p2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7F5F52">
                    <a:alpha val="6274"/>
                  </a:srgbClr>
                </a:gs>
                <a:gs pos="36000">
                  <a:srgbClr val="7F5F52">
                    <a:alpha val="5490"/>
                  </a:srgbClr>
                </a:gs>
                <a:gs pos="69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" name="Google Shape;27;p2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73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2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66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2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7F5F52">
                    <a:alpha val="10588"/>
                  </a:srgbClr>
                </a:gs>
                <a:gs pos="36000">
                  <a:srgbClr val="7F5F52">
                    <a:alpha val="9411"/>
                  </a:srgbClr>
                </a:gs>
                <a:gs pos="75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24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1" name="Google Shape;31;p24"/>
          <p:cNvSpPr txBox="1"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rgbClr val="F06C46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dt" idx="10"/>
          </p:nvPr>
        </p:nvSpPr>
        <p:spPr>
          <a:xfrm rot="5400000">
            <a:off x="7498080" y="1828800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ftr" idx="11"/>
          </p:nvPr>
        </p:nvSpPr>
        <p:spPr>
          <a:xfrm rot="5400000">
            <a:off x="6236208" y="3264408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me Card">
  <p:cSld name="Name Card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2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45" name="Google Shape;45;p26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0" r="-16984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7F5F52">
                    <a:alpha val="7450"/>
                  </a:srgbClr>
                </a:gs>
                <a:gs pos="36000">
                  <a:srgbClr val="7F5F52">
                    <a:alpha val="7450"/>
                  </a:srgbClr>
                </a:gs>
                <a:gs pos="72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7F5F52">
                    <a:alpha val="6274"/>
                  </a:srgbClr>
                </a:gs>
                <a:gs pos="36000">
                  <a:srgbClr val="7F5F52">
                    <a:alpha val="5490"/>
                  </a:srgbClr>
                </a:gs>
                <a:gs pos="69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6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73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66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7F5F52">
                    <a:alpha val="10588"/>
                  </a:srgbClr>
                </a:gs>
                <a:gs pos="36000">
                  <a:srgbClr val="7F5F52">
                    <a:alpha val="9411"/>
                  </a:srgbClr>
                </a:gs>
                <a:gs pos="75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6"/>
            <p:cNvSpPr/>
            <p:nvPr/>
          </p:nvSpPr>
          <p:spPr>
            <a:xfrm rot="-589932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6"/>
            <p:cNvSpPr/>
            <p:nvPr/>
          </p:nvSpPr>
          <p:spPr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 extrusionOk="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6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4" name="Google Shape;54;p26"/>
          <p:cNvSpPr txBox="1"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F06C4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6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2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62" name="Google Shape;62;p2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0" r="-16984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7F5F52">
                    <a:alpha val="7450"/>
                  </a:srgbClr>
                </a:gs>
                <a:gs pos="36000">
                  <a:srgbClr val="7F5F52">
                    <a:alpha val="7450"/>
                  </a:srgbClr>
                </a:gs>
                <a:gs pos="72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7F5F52">
                    <a:alpha val="6274"/>
                  </a:srgbClr>
                </a:gs>
                <a:gs pos="36000">
                  <a:srgbClr val="7F5F52">
                    <a:alpha val="5490"/>
                  </a:srgbClr>
                </a:gs>
                <a:gs pos="69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7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73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66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7F5F52">
                    <a:alpha val="10588"/>
                  </a:srgbClr>
                </a:gs>
                <a:gs pos="36000">
                  <a:srgbClr val="7F5F52">
                    <a:alpha val="9411"/>
                  </a:srgbClr>
                </a:gs>
                <a:gs pos="75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7"/>
            <p:cNvSpPr/>
            <p:nvPr/>
          </p:nvSpPr>
          <p:spPr>
            <a:xfrm rot="-5400000">
              <a:off x="3105027" y="1765596"/>
              <a:ext cx="5995993" cy="3326809"/>
            </a:xfrm>
            <a:custGeom>
              <a:avLst/>
              <a:gdLst/>
              <a:ahLst/>
              <a:cxnLst/>
              <a:rect l="l" t="t" r="r" b="b"/>
              <a:pathLst>
                <a:path w="4960" h="2752" extrusionOk="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70" name="Google Shape;70;p27"/>
            <p:cNvSpPr/>
            <p:nvPr/>
          </p:nvSpPr>
          <p:spPr>
            <a:xfrm rot="-5912394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7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72" name="Google Shape;72;p27"/>
          <p:cNvSpPr txBox="1"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F06C4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>
            <a:off x="866440" y="2489200"/>
            <a:ext cx="3636980" cy="353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body" idx="2"/>
          </p:nvPr>
        </p:nvSpPr>
        <p:spPr>
          <a:xfrm>
            <a:off x="4640581" y="2489203"/>
            <a:ext cx="363698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9"/>
          <p:cNvSpPr txBox="1"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F06C4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29"/>
          <p:cNvSpPr txBox="1">
            <a:spLocks noGrp="1"/>
          </p:cNvSpPr>
          <p:nvPr>
            <p:ph type="body" idx="2"/>
          </p:nvPr>
        </p:nvSpPr>
        <p:spPr>
          <a:xfrm>
            <a:off x="866440" y="3248490"/>
            <a:ext cx="3636980" cy="2771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body" idx="3"/>
          </p:nvPr>
        </p:nvSpPr>
        <p:spPr>
          <a:xfrm>
            <a:off x="4640581" y="2489200"/>
            <a:ext cx="3636979" cy="756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F06C4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4"/>
          </p:nvPr>
        </p:nvSpPr>
        <p:spPr>
          <a:xfrm>
            <a:off x="4640581" y="3245835"/>
            <a:ext cx="3636980" cy="2773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0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0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0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0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1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1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3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6" name="Google Shape;106;p3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0" r="-16984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7F5F52">
                    <a:alpha val="7450"/>
                  </a:srgbClr>
                </a:gs>
                <a:gs pos="36000">
                  <a:srgbClr val="7F5F52">
                    <a:alpha val="7450"/>
                  </a:srgbClr>
                </a:gs>
                <a:gs pos="72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7F5F52">
                    <a:alpha val="6274"/>
                  </a:srgbClr>
                </a:gs>
                <a:gs pos="36000">
                  <a:srgbClr val="7F5F52">
                    <a:alpha val="5490"/>
                  </a:srgbClr>
                </a:gs>
                <a:gs pos="69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73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2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66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7F5F52">
                    <a:alpha val="10588"/>
                  </a:srgbClr>
                </a:gs>
                <a:gs pos="36000">
                  <a:srgbClr val="7F5F52">
                    <a:alpha val="9411"/>
                  </a:srgbClr>
                </a:gs>
                <a:gs pos="75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2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2"/>
            <p:cNvSpPr/>
            <p:nvPr/>
          </p:nvSpPr>
          <p:spPr>
            <a:xfrm rot="-5400000">
              <a:off x="2548536" y="1765596"/>
              <a:ext cx="5995993" cy="3326809"/>
            </a:xfrm>
            <a:custGeom>
              <a:avLst/>
              <a:gdLst/>
              <a:ahLst/>
              <a:cxnLst/>
              <a:rect l="l" t="t" r="r" b="b"/>
              <a:pathLst>
                <a:path w="4960" h="2752" extrusionOk="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14" name="Google Shape;114;p32"/>
            <p:cNvSpPr/>
            <p:nvPr/>
          </p:nvSpPr>
          <p:spPr>
            <a:xfrm rot="-5912394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2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68927" y="1447800"/>
            <a:ext cx="36328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866441" y="3086845"/>
            <a:ext cx="2712589" cy="2933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F06C4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2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33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5" name="Google Shape;125;p3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0" r="-16984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7F5F52">
                    <a:alpha val="7450"/>
                  </a:srgbClr>
                </a:gs>
                <a:gs pos="36000">
                  <a:srgbClr val="7F5F52">
                    <a:alpha val="7450"/>
                  </a:srgbClr>
                </a:gs>
                <a:gs pos="72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7F5F52">
                    <a:alpha val="6274"/>
                  </a:srgbClr>
                </a:gs>
                <a:gs pos="36000">
                  <a:srgbClr val="7F5F52">
                    <a:alpha val="5490"/>
                  </a:srgbClr>
                </a:gs>
                <a:gs pos="69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73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66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3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7F5F52">
                    <a:alpha val="10588"/>
                  </a:srgbClr>
                </a:gs>
                <a:gs pos="36000">
                  <a:srgbClr val="7F5F52">
                    <a:alpha val="9411"/>
                  </a:srgbClr>
                </a:gs>
                <a:gs pos="75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3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3"/>
            <p:cNvSpPr/>
            <p:nvPr/>
          </p:nvSpPr>
          <p:spPr>
            <a:xfrm rot="-5400000">
              <a:off x="2852610" y="1765596"/>
              <a:ext cx="5995993" cy="3326809"/>
            </a:xfrm>
            <a:custGeom>
              <a:avLst/>
              <a:gdLst/>
              <a:ahLst/>
              <a:cxnLst/>
              <a:rect l="l" t="t" r="r" b="b"/>
              <a:pathLst>
                <a:path w="4960" h="2752" extrusionOk="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33" name="Google Shape;133;p33"/>
            <p:cNvSpPr/>
            <p:nvPr/>
          </p:nvSpPr>
          <p:spPr>
            <a:xfrm rot="-5912394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3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35" name="Google Shape;135;p33"/>
          <p:cNvSpPr txBox="1"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3"/>
          <p:cNvSpPr>
            <a:spLocks noGrp="1"/>
          </p:cNvSpPr>
          <p:nvPr>
            <p:ph type="pic" idx="2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352"/>
              </a:srgbClr>
            </a:outerShdw>
          </a:effectLst>
        </p:spPr>
      </p:sp>
      <p:sp>
        <p:nvSpPr>
          <p:cNvPr id="137" name="Google Shape;137;p33"/>
          <p:cNvSpPr txBox="1">
            <a:spLocks noGrp="1"/>
          </p:cNvSpPr>
          <p:nvPr>
            <p:ph type="body" idx="1"/>
          </p:nvPr>
        </p:nvSpPr>
        <p:spPr>
          <a:xfrm>
            <a:off x="866440" y="3086100"/>
            <a:ext cx="2987089" cy="24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F06C4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33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3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3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anoramic Picture with Caption">
  <p:cSld name="Panoramic Picture with Captio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34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4" name="Google Shape;144;p3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0" r="-16984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7F5F52">
                    <a:alpha val="7450"/>
                  </a:srgbClr>
                </a:gs>
                <a:gs pos="36000">
                  <a:srgbClr val="7F5F52">
                    <a:alpha val="7450"/>
                  </a:srgbClr>
                </a:gs>
                <a:gs pos="72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7F5F52">
                    <a:alpha val="6274"/>
                  </a:srgbClr>
                </a:gs>
                <a:gs pos="36000">
                  <a:srgbClr val="7F5F52">
                    <a:alpha val="5490"/>
                  </a:srgbClr>
                </a:gs>
                <a:gs pos="69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73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66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7F5F52">
                    <a:alpha val="10588"/>
                  </a:srgbClr>
                </a:gs>
                <a:gs pos="36000">
                  <a:srgbClr val="7F5F52">
                    <a:alpha val="9411"/>
                  </a:srgbClr>
                </a:gs>
                <a:gs pos="75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4"/>
            <p:cNvSpPr/>
            <p:nvPr/>
          </p:nvSpPr>
          <p:spPr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4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4"/>
            <p:cNvSpPr/>
            <p:nvPr/>
          </p:nvSpPr>
          <p:spPr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 extrusionOk="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4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54" name="Google Shape;154;p34"/>
          <p:cNvSpPr txBox="1"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4"/>
          <p:cNvSpPr>
            <a:spLocks noGrp="1"/>
          </p:cNvSpPr>
          <p:nvPr>
            <p:ph type="pic" idx="2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352"/>
              </a:srgbClr>
            </a:outerShdw>
          </a:effectLst>
        </p:spPr>
      </p:sp>
      <p:sp>
        <p:nvSpPr>
          <p:cNvPr id="156" name="Google Shape;156;p34"/>
          <p:cNvSpPr txBox="1">
            <a:spLocks noGrp="1"/>
          </p:cNvSpPr>
          <p:nvPr>
            <p:ph type="body" idx="1"/>
          </p:nvPr>
        </p:nvSpPr>
        <p:spPr>
          <a:xfrm>
            <a:off x="866440" y="5528192"/>
            <a:ext cx="6422004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F06C4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57" name="Google Shape;157;p34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4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4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aption">
  <p:cSld name="Title and Capti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3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63" name="Google Shape;163;p35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0" r="-16984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7F5F52">
                    <a:alpha val="7450"/>
                  </a:srgbClr>
                </a:gs>
                <a:gs pos="36000">
                  <a:srgbClr val="7F5F52">
                    <a:alpha val="7450"/>
                  </a:srgbClr>
                </a:gs>
                <a:gs pos="72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7F5F52">
                    <a:alpha val="6274"/>
                  </a:srgbClr>
                </a:gs>
                <a:gs pos="36000">
                  <a:srgbClr val="7F5F52">
                    <a:alpha val="5490"/>
                  </a:srgbClr>
                </a:gs>
                <a:gs pos="69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73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66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7F5F52">
                    <a:alpha val="10588"/>
                  </a:srgbClr>
                </a:gs>
                <a:gs pos="36000">
                  <a:srgbClr val="7F5F52">
                    <a:alpha val="9411"/>
                  </a:srgbClr>
                </a:gs>
                <a:gs pos="75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5"/>
            <p:cNvSpPr/>
            <p:nvPr/>
          </p:nvSpPr>
          <p:spPr>
            <a:xfrm rot="-589932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5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5"/>
            <p:cNvSpPr/>
            <p:nvPr/>
          </p:nvSpPr>
          <p:spPr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 extrusionOk="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5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73" name="Google Shape;173;p35"/>
          <p:cNvSpPr txBox="1"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5"/>
          <p:cNvSpPr txBox="1">
            <a:spLocks noGrp="1"/>
          </p:cNvSpPr>
          <p:nvPr>
            <p:ph type="body" idx="1"/>
          </p:nvPr>
        </p:nvSpPr>
        <p:spPr>
          <a:xfrm>
            <a:off x="866440" y="3488023"/>
            <a:ext cx="6422005" cy="2536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75" name="Google Shape;175;p35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5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5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with Caption">
  <p:cSld name="Quote with Caption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3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81" name="Google Shape;181;p36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0" r="-16984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7F5F52">
                    <a:alpha val="7450"/>
                  </a:srgbClr>
                </a:gs>
                <a:gs pos="36000">
                  <a:srgbClr val="7F5F52">
                    <a:alpha val="7450"/>
                  </a:srgbClr>
                </a:gs>
                <a:gs pos="72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7F5F52">
                    <a:alpha val="6274"/>
                  </a:srgbClr>
                </a:gs>
                <a:gs pos="36000">
                  <a:srgbClr val="7F5F52">
                    <a:alpha val="5490"/>
                  </a:srgbClr>
                </a:gs>
                <a:gs pos="69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6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73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66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7F5F52">
                    <a:alpha val="10588"/>
                  </a:srgbClr>
                </a:gs>
                <a:gs pos="36000">
                  <a:srgbClr val="7F5F52">
                    <a:alpha val="9411"/>
                  </a:srgbClr>
                </a:gs>
                <a:gs pos="75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6"/>
            <p:cNvSpPr/>
            <p:nvPr/>
          </p:nvSpPr>
          <p:spPr>
            <a:xfrm rot="-589932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6"/>
            <p:cNvSpPr/>
            <p:nvPr/>
          </p:nvSpPr>
          <p:spPr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 extrusionOk="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6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90" name="Google Shape;190;p36"/>
          <p:cNvSpPr txBox="1"/>
          <p:nvPr/>
        </p:nvSpPr>
        <p:spPr>
          <a:xfrm>
            <a:off x="647430" y="651690"/>
            <a:ext cx="60159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GB" sz="8000" b="0" i="0" u="none" strike="noStrike" cap="none">
                <a:solidFill>
                  <a:srgbClr val="F06C46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6"/>
          <p:cNvSpPr txBox="1"/>
          <p:nvPr/>
        </p:nvSpPr>
        <p:spPr>
          <a:xfrm>
            <a:off x="7069418" y="2900292"/>
            <a:ext cx="619063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GB" sz="8000" b="0" i="0" u="none" strike="noStrike" cap="none">
                <a:solidFill>
                  <a:srgbClr val="F06C46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6"/>
          <p:cNvSpPr txBox="1"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6"/>
          <p:cNvSpPr txBox="1">
            <a:spLocks noGrp="1"/>
          </p:cNvSpPr>
          <p:nvPr>
            <p:ph type="body" idx="1"/>
          </p:nvPr>
        </p:nvSpPr>
        <p:spPr>
          <a:xfrm>
            <a:off x="1387278" y="3809278"/>
            <a:ext cx="5646143" cy="33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 b="0" i="0" cap="small">
                <a:solidFill>
                  <a:srgbClr val="F06C4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94" name="Google Shape;194;p36"/>
          <p:cNvSpPr txBox="1">
            <a:spLocks noGrp="1"/>
          </p:cNvSpPr>
          <p:nvPr>
            <p:ph type="body" idx="2"/>
          </p:nvPr>
        </p:nvSpPr>
        <p:spPr>
          <a:xfrm>
            <a:off x="866440" y="5000816"/>
            <a:ext cx="6343673" cy="1010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95" name="Google Shape;195;p36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36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6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7"/>
          <p:cNvSpPr txBox="1"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F06C4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02" name="Google Shape;202;p37"/>
          <p:cNvSpPr txBox="1">
            <a:spLocks noGrp="1"/>
          </p:cNvSpPr>
          <p:nvPr>
            <p:ph type="body" idx="2"/>
          </p:nvPr>
        </p:nvSpPr>
        <p:spPr>
          <a:xfrm>
            <a:off x="866440" y="3147164"/>
            <a:ext cx="2313432" cy="288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03" name="Google Shape;203;p37"/>
          <p:cNvSpPr txBox="1">
            <a:spLocks noGrp="1"/>
          </p:cNvSpPr>
          <p:nvPr>
            <p:ph type="body" idx="3"/>
          </p:nvPr>
        </p:nvSpPr>
        <p:spPr>
          <a:xfrm>
            <a:off x="3405614" y="2489200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F06C4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body" idx="4"/>
          </p:nvPr>
        </p:nvSpPr>
        <p:spPr>
          <a:xfrm>
            <a:off x="3408471" y="3147164"/>
            <a:ext cx="2318918" cy="288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05" name="Google Shape;205;p37"/>
          <p:cNvSpPr txBox="1">
            <a:spLocks noGrp="1"/>
          </p:cNvSpPr>
          <p:nvPr>
            <p:ph type="body" idx="5"/>
          </p:nvPr>
        </p:nvSpPr>
        <p:spPr>
          <a:xfrm>
            <a:off x="5958642" y="2489200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F06C4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06" name="Google Shape;206;p37"/>
          <p:cNvSpPr txBox="1">
            <a:spLocks noGrp="1"/>
          </p:cNvSpPr>
          <p:nvPr>
            <p:ph type="body" idx="6"/>
          </p:nvPr>
        </p:nvSpPr>
        <p:spPr>
          <a:xfrm>
            <a:off x="5960935" y="3147164"/>
            <a:ext cx="2316625" cy="288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07" name="Google Shape;207;p37"/>
          <p:cNvCxnSpPr/>
          <p:nvPr/>
        </p:nvCxnSpPr>
        <p:spPr>
          <a:xfrm>
            <a:off x="3294530" y="2489201"/>
            <a:ext cx="0" cy="3546328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37"/>
          <p:cNvCxnSpPr/>
          <p:nvPr/>
        </p:nvCxnSpPr>
        <p:spPr>
          <a:xfrm>
            <a:off x="5849521" y="2489201"/>
            <a:ext cx="0" cy="3546328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37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7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8"/>
          <p:cNvSpPr txBox="1"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F06C4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5" name="Google Shape;215;p38"/>
          <p:cNvSpPr>
            <a:spLocks noGrp="1"/>
          </p:cNvSpPr>
          <p:nvPr>
            <p:ph type="pic" idx="2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352"/>
              </a:srgbClr>
            </a:outerShdw>
          </a:effectLst>
        </p:spPr>
      </p:sp>
      <p:sp>
        <p:nvSpPr>
          <p:cNvPr id="216" name="Google Shape;216;p38"/>
          <p:cNvSpPr txBox="1">
            <a:spLocks noGrp="1"/>
          </p:cNvSpPr>
          <p:nvPr>
            <p:ph type="body" idx="3"/>
          </p:nvPr>
        </p:nvSpPr>
        <p:spPr>
          <a:xfrm>
            <a:off x="866439" y="4837558"/>
            <a:ext cx="2313432" cy="1187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17" name="Google Shape;217;p38"/>
          <p:cNvSpPr txBox="1">
            <a:spLocks noGrp="1"/>
          </p:cNvSpPr>
          <p:nvPr>
            <p:ph type="body" idx="4"/>
          </p:nvPr>
        </p:nvSpPr>
        <p:spPr>
          <a:xfrm>
            <a:off x="3411125" y="4179595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F06C4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8" name="Google Shape;218;p38"/>
          <p:cNvSpPr>
            <a:spLocks noGrp="1"/>
          </p:cNvSpPr>
          <p:nvPr>
            <p:ph type="pic" idx="5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352"/>
              </a:srgbClr>
            </a:outerShdw>
          </a:effectLst>
        </p:spPr>
      </p:sp>
      <p:sp>
        <p:nvSpPr>
          <p:cNvPr id="219" name="Google Shape;219;p38"/>
          <p:cNvSpPr txBox="1">
            <a:spLocks noGrp="1"/>
          </p:cNvSpPr>
          <p:nvPr>
            <p:ph type="body" idx="6"/>
          </p:nvPr>
        </p:nvSpPr>
        <p:spPr>
          <a:xfrm>
            <a:off x="3411125" y="4848208"/>
            <a:ext cx="2318918" cy="1187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20" name="Google Shape;220;p38"/>
          <p:cNvSpPr txBox="1">
            <a:spLocks noGrp="1"/>
          </p:cNvSpPr>
          <p:nvPr>
            <p:ph type="body" idx="7"/>
          </p:nvPr>
        </p:nvSpPr>
        <p:spPr>
          <a:xfrm>
            <a:off x="5958642" y="4179596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F06C4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21" name="Google Shape;221;p38"/>
          <p:cNvSpPr>
            <a:spLocks noGrp="1"/>
          </p:cNvSpPr>
          <p:nvPr>
            <p:ph type="pic" idx="8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352"/>
              </a:srgbClr>
            </a:outerShdw>
          </a:effectLst>
        </p:spPr>
      </p:sp>
      <p:sp>
        <p:nvSpPr>
          <p:cNvPr id="222" name="Google Shape;222;p38"/>
          <p:cNvSpPr txBox="1">
            <a:spLocks noGrp="1"/>
          </p:cNvSpPr>
          <p:nvPr>
            <p:ph type="body" idx="9"/>
          </p:nvPr>
        </p:nvSpPr>
        <p:spPr>
          <a:xfrm>
            <a:off x="5958642" y="4837558"/>
            <a:ext cx="2318918" cy="1187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23" name="Google Shape;223;p38"/>
          <p:cNvCxnSpPr/>
          <p:nvPr/>
        </p:nvCxnSpPr>
        <p:spPr>
          <a:xfrm>
            <a:off x="3290019" y="2489201"/>
            <a:ext cx="0" cy="3546328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4" name="Google Shape;224;p38"/>
          <p:cNvCxnSpPr/>
          <p:nvPr/>
        </p:nvCxnSpPr>
        <p:spPr>
          <a:xfrm>
            <a:off x="5849521" y="2489201"/>
            <a:ext cx="0" cy="3546328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5" name="Google Shape;225;p38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8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38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39"/>
          <p:cNvSpPr txBox="1">
            <a:spLocks noGrp="1"/>
          </p:cNvSpPr>
          <p:nvPr>
            <p:ph type="body" idx="1"/>
          </p:nvPr>
        </p:nvSpPr>
        <p:spPr>
          <a:xfrm rot="5400000">
            <a:off x="2271712" y="1081870"/>
            <a:ext cx="3530600" cy="634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31" name="Google Shape;231;p39"/>
          <p:cNvSpPr txBox="1">
            <a:spLocks noGrp="1"/>
          </p:cNvSpPr>
          <p:nvPr>
            <p:ph type="dt" idx="10"/>
          </p:nvPr>
        </p:nvSpPr>
        <p:spPr>
          <a:xfrm>
            <a:off x="7621301" y="6387910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9"/>
          <p:cNvSpPr txBox="1">
            <a:spLocks noGrp="1"/>
          </p:cNvSpPr>
          <p:nvPr>
            <p:ph type="ftr" idx="11"/>
          </p:nvPr>
        </p:nvSpPr>
        <p:spPr>
          <a:xfrm>
            <a:off x="516133" y="6387910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9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40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236" name="Google Shape;236;p4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10" r="-16984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7F5F52">
                    <a:alpha val="7450"/>
                  </a:srgbClr>
                </a:gs>
                <a:gs pos="36000">
                  <a:srgbClr val="7F5F52">
                    <a:alpha val="7450"/>
                  </a:srgbClr>
                </a:gs>
                <a:gs pos="72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7F5F52">
                    <a:alpha val="6274"/>
                  </a:srgbClr>
                </a:gs>
                <a:gs pos="36000">
                  <a:srgbClr val="7F5F52">
                    <a:alpha val="5490"/>
                  </a:srgbClr>
                </a:gs>
                <a:gs pos="69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0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73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0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66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4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7F5F52">
                    <a:alpha val="10588"/>
                  </a:srgbClr>
                </a:gs>
                <a:gs pos="36000">
                  <a:srgbClr val="7F5F52">
                    <a:alpha val="9411"/>
                  </a:srgbClr>
                </a:gs>
                <a:gs pos="75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0"/>
            <p:cNvSpPr/>
            <p:nvPr/>
          </p:nvSpPr>
          <p:spPr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" name="Google Shape;243;p40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0"/>
          <p:cNvSpPr/>
          <p:nvPr/>
        </p:nvSpPr>
        <p:spPr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l" t="t" r="r" b="b"/>
            <a:pathLst>
              <a:path w="4960" h="2752" extrusionOk="0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45" name="Google Shape;245;p40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5760" h="4320" extrusionOk="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6" name="Google Shape;246;p40"/>
          <p:cNvSpPr txBox="1">
            <a:spLocks noGrp="1"/>
          </p:cNvSpPr>
          <p:nvPr>
            <p:ph type="title"/>
          </p:nvPr>
        </p:nvSpPr>
        <p:spPr>
          <a:xfrm rot="5400000">
            <a:off x="4445686" y="3177042"/>
            <a:ext cx="4572001" cy="111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40"/>
          <p:cNvSpPr txBox="1">
            <a:spLocks noGrp="1"/>
          </p:cNvSpPr>
          <p:nvPr>
            <p:ph type="body" idx="1"/>
          </p:nvPr>
        </p:nvSpPr>
        <p:spPr>
          <a:xfrm rot="5400000">
            <a:off x="789205" y="1525332"/>
            <a:ext cx="4572001" cy="44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48" name="Google Shape;248;p40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40"/>
          <p:cNvSpPr txBox="1">
            <a:spLocks noGrp="1"/>
          </p:cNvSpPr>
          <p:nvPr>
            <p:ph type="ftr" idx="11"/>
          </p:nvPr>
        </p:nvSpPr>
        <p:spPr>
          <a:xfrm>
            <a:off x="538546" y="6365498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4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0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23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7" name="Google Shape;7;p2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l="-16710" r="-1698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" name="Google Shape;8;p2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7F5F52">
                    <a:alpha val="7450"/>
                  </a:srgbClr>
                </a:gs>
                <a:gs pos="36000">
                  <a:srgbClr val="7F5F52">
                    <a:alpha val="7450"/>
                  </a:srgbClr>
                </a:gs>
                <a:gs pos="72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" name="Google Shape;9;p2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7F5F52">
                    <a:alpha val="6274"/>
                  </a:srgbClr>
                </a:gs>
                <a:gs pos="36000">
                  <a:srgbClr val="7F5F52">
                    <a:alpha val="5490"/>
                  </a:srgbClr>
                </a:gs>
                <a:gs pos="69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" name="Google Shape;10;p2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73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" name="Google Shape;11;p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7F5F52">
                    <a:alpha val="13333"/>
                  </a:srgbClr>
                </a:gs>
                <a:gs pos="36000">
                  <a:srgbClr val="7F5F52">
                    <a:alpha val="6274"/>
                  </a:srgbClr>
                </a:gs>
                <a:gs pos="66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" name="Google Shape;12;p23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7F5F52">
                    <a:alpha val="10588"/>
                  </a:srgbClr>
                </a:gs>
                <a:gs pos="36000">
                  <a:srgbClr val="7F5F52">
                    <a:alpha val="9411"/>
                  </a:srgbClr>
                </a:gs>
                <a:gs pos="75000">
                  <a:srgbClr val="7F5F52">
                    <a:alpha val="0"/>
                  </a:srgbClr>
                </a:gs>
                <a:gs pos="100000">
                  <a:srgbClr val="7F5F5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" name="Google Shape;13;p23"/>
            <p:cNvSpPr/>
            <p:nvPr/>
          </p:nvSpPr>
          <p:spPr>
            <a:xfrm rot="-589932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" name="Google Shape;14;p23"/>
            <p:cNvSpPr/>
            <p:nvPr/>
          </p:nvSpPr>
          <p:spPr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l" t="t" r="r" b="b"/>
              <a:pathLst>
                <a:path w="4960" h="2752" extrusionOk="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" name="Google Shape;15;p23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6" name="Google Shape;16;p23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0" name="Google Shape;20;p2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" name="Google Shape;21;p23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BB3C9-2532-BA30-D317-AF2393BCEEB9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7938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-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angarajn01/Movie-Recommender-By-ScaleCraft/tree/main" TargetMode="External"/><Relationship Id="rId7" Type="http://schemas.openxmlformats.org/officeDocument/2006/relationships/hyperlink" Target="https://grouplens.org/datasets/movielens/25m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s.princeton.edu/courses/archive/spr05/cos598E/bib/p253-datar.pdf" TargetMode="External"/><Relationship Id="rId5" Type="http://schemas.openxmlformats.org/officeDocument/2006/relationships/hyperlink" Target="http://yifanhu.net/PUB/cf.pdf" TargetMode="External"/><Relationship Id="rId4" Type="http://schemas.openxmlformats.org/officeDocument/2006/relationships/hyperlink" Target="https://indianinstituteofscience-my.sharepoint.com/:w:/r/personal/sanujk_iisc_ac_in/_layouts/15/Doc.aspx?sourcedoc=%7BF74A1553-1A60-4BAD-9463-F33A8D4C1EC3%7D&amp;file=Final%20Project%20Report%20-%20SmartScale%20-%20Data%20Engg%20at%20Scale1.docx&amp;action=default&amp;mobileredirect=true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1" descr="A hand holding a remote control&#10;&#10;AI-generated content may be incorrect.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"/>
          <p:cNvSpPr txBox="1">
            <a:spLocks noGrp="1"/>
          </p:cNvSpPr>
          <p:nvPr>
            <p:ph type="ctrTitle"/>
          </p:nvPr>
        </p:nvSpPr>
        <p:spPr>
          <a:xfrm>
            <a:off x="1143000" y="914400"/>
            <a:ext cx="7175500" cy="253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GB" sz="5400">
                <a:latin typeface="Calibri"/>
                <a:ea typeface="Calibri"/>
                <a:cs typeface="Calibri"/>
                <a:sym typeface="Calibri"/>
              </a:rPr>
              <a:t>Movie Recommendation System</a:t>
            </a:r>
            <a:br>
              <a:rPr lang="en-GB" sz="5400">
                <a:latin typeface="Calibri"/>
                <a:ea typeface="Calibri"/>
                <a:cs typeface="Calibri"/>
                <a:sym typeface="Calibri"/>
              </a:rPr>
            </a:br>
            <a:r>
              <a:rPr lang="en-GB" sz="3600">
                <a:latin typeface="Calibri"/>
                <a:ea typeface="Calibri"/>
                <a:cs typeface="Calibri"/>
                <a:sym typeface="Calibri"/>
              </a:rPr>
              <a:t>Big Data Project</a:t>
            </a:r>
            <a:endParaRPr/>
          </a:p>
        </p:txBody>
      </p:sp>
      <p:sp>
        <p:nvSpPr>
          <p:cNvPr id="258" name="Google Shape;258;p1"/>
          <p:cNvSpPr txBox="1">
            <a:spLocks noGrp="1"/>
          </p:cNvSpPr>
          <p:nvPr>
            <p:ph type="subTitle" idx="1"/>
          </p:nvPr>
        </p:nvSpPr>
        <p:spPr>
          <a:xfrm>
            <a:off x="5467350" y="4629150"/>
            <a:ext cx="2940050" cy="1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GB"/>
              <a:t>BY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GB"/>
              <a:t>NAGARAJA S B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GB"/>
              <a:t>SANUJ KULSHRESTHA</a:t>
            </a:r>
            <a:endParaRPr/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9998"/>
              <a:buFont typeface="Arial"/>
              <a:buNone/>
            </a:pPr>
            <a:r>
              <a:rPr lang="en-GB"/>
              <a:t>THANGARAJ N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GB"/>
              <a:t>SWAPNA GUNDEBOYINA</a:t>
            </a:r>
            <a:endParaRPr/>
          </a:p>
        </p:txBody>
      </p:sp>
      <p:sp>
        <p:nvSpPr>
          <p:cNvPr id="259" name="Google Shape;259;p1"/>
          <p:cNvSpPr txBox="1"/>
          <p:nvPr/>
        </p:nvSpPr>
        <p:spPr>
          <a:xfrm>
            <a:off x="1301750" y="3285091"/>
            <a:ext cx="6858000" cy="65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Hybrid Recommendation Engine using PySpark, ALS &amp; LSH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"/>
          <p:cNvSpPr txBox="1"/>
          <p:nvPr/>
        </p:nvSpPr>
        <p:spPr>
          <a:xfrm>
            <a:off x="1454150" y="4021691"/>
            <a:ext cx="6858000" cy="65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Team - ScaleCraft</a:t>
            </a:r>
            <a:endParaRPr sz="28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Problem Definition</a:t>
            </a:r>
            <a:endParaRPr/>
          </a:p>
        </p:txBody>
      </p:sp>
      <p:sp>
        <p:nvSpPr>
          <p:cNvPr id="266" name="Google Shape;266;p2"/>
          <p:cNvSpPr txBox="1">
            <a:spLocks noGrp="1"/>
          </p:cNvSpPr>
          <p:nvPr>
            <p:ph type="body" idx="1"/>
          </p:nvPr>
        </p:nvSpPr>
        <p:spPr>
          <a:xfrm>
            <a:off x="864375" y="2489200"/>
            <a:ext cx="7905600" cy="3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/>
              <a:t>Personalized movie recommendations at scale (25M+ ratings).</a:t>
            </a:r>
            <a:endParaRPr/>
          </a:p>
          <a:p>
            <a:pPr marL="685800" lvl="1" indent="-28346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GB"/>
              <a:t>Low latency (&lt;3 seconds) and high accuracy (RMSE &lt; 0.85).</a:t>
            </a:r>
            <a:endParaRPr/>
          </a:p>
          <a:p>
            <a:pPr marL="685800" lvl="1" indent="-28346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GB"/>
              <a:t>Cold-start handling for new users.</a:t>
            </a:r>
            <a:endParaRPr/>
          </a:p>
        </p:txBody>
      </p:sp>
      <p:pic>
        <p:nvPicPr>
          <p:cNvPr id="267" name="Google Shape;267;p2" descr="A group of people sitting on a couch watching tv"/>
          <p:cNvPicPr preferRelativeResize="0"/>
          <p:nvPr/>
        </p:nvPicPr>
        <p:blipFill rotWithShape="1">
          <a:blip r:embed="rId3">
            <a:alphaModFix amt="41000"/>
          </a:blip>
          <a:srcRect/>
          <a:stretch/>
        </p:blipFill>
        <p:spPr>
          <a:xfrm>
            <a:off x="5216250" y="3429000"/>
            <a:ext cx="3425525" cy="327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 sz="3200"/>
              <a:t>Problem Motivation</a:t>
            </a:r>
            <a:endParaRPr/>
          </a:p>
        </p:txBody>
      </p:sp>
      <p:sp>
        <p:nvSpPr>
          <p:cNvPr id="273" name="Google Shape;273;p3"/>
          <p:cNvSpPr txBox="1">
            <a:spLocks noGrp="1"/>
          </p:cNvSpPr>
          <p:nvPr>
            <p:ph type="body" idx="1"/>
          </p:nvPr>
        </p:nvSpPr>
        <p:spPr>
          <a:xfrm>
            <a:off x="561100" y="2244425"/>
            <a:ext cx="7803600" cy="3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004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>
                <a:solidFill>
                  <a:srgbClr val="3F3F3F"/>
                </a:solidFill>
              </a:rPr>
              <a:t>Recommendations drive 80% of content watched.</a:t>
            </a:r>
            <a:endParaRPr>
              <a:solidFill>
                <a:srgbClr val="3F3F3F"/>
              </a:solidFill>
            </a:endParaRPr>
          </a:p>
          <a:p>
            <a:pPr marL="457200" lvl="0" indent="-32004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>
                <a:solidFill>
                  <a:srgbClr val="3F3F3F"/>
                </a:solidFill>
              </a:rPr>
              <a:t>Inappropriate Recommendations may lead to new user attrition.</a:t>
            </a:r>
            <a:endParaRPr>
              <a:solidFill>
                <a:srgbClr val="3F3F3F"/>
              </a:solidFill>
            </a:endParaRPr>
          </a:p>
          <a:p>
            <a:pPr marL="457200" lvl="0" indent="-32004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>
                <a:solidFill>
                  <a:srgbClr val="3F3F3F"/>
                </a:solidFill>
              </a:rPr>
              <a:t>Processing 25M ratings requires distributed computing.</a:t>
            </a:r>
            <a:endParaRPr>
              <a:solidFill>
                <a:srgbClr val="3F3F3F"/>
              </a:solidFill>
            </a:endParaRPr>
          </a:p>
          <a:p>
            <a:pPr marL="457200" lvl="0" indent="-32004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>
                <a:solidFill>
                  <a:srgbClr val="3F3F3F"/>
                </a:solidFill>
              </a:rPr>
              <a:t>Real-time responses required under 3 seconds.</a:t>
            </a:r>
            <a:endParaRPr>
              <a:solidFill>
                <a:srgbClr val="3F3F3F"/>
              </a:solidFill>
            </a:endParaRPr>
          </a:p>
          <a:p>
            <a:pPr marL="457200" lvl="0" indent="-32004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40"/>
              <a:buChar char="►"/>
            </a:pPr>
            <a:r>
              <a:rPr lang="en-GB">
                <a:solidFill>
                  <a:srgbClr val="3F3F3F"/>
                </a:solidFill>
              </a:rPr>
              <a:t>Can be extended to other recommendation systems (e-commerce, Advertising, Music)</a:t>
            </a:r>
            <a:endParaRPr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 sz="3200"/>
              <a:t>Design Goals</a:t>
            </a:r>
            <a:endParaRPr/>
          </a:p>
        </p:txBody>
      </p:sp>
      <p:sp>
        <p:nvSpPr>
          <p:cNvPr id="279" name="Google Shape;279;p4"/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004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600">
                <a:solidFill>
                  <a:srgbClr val="3F3F3F"/>
                </a:solidFill>
              </a:rPr>
              <a:t>High accuracy.</a:t>
            </a:r>
            <a:endParaRPr sz="1600">
              <a:solidFill>
                <a:srgbClr val="3F3F3F"/>
              </a:solidFill>
            </a:endParaRPr>
          </a:p>
          <a:p>
            <a:pPr marL="457200" lvl="0" indent="-32004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600">
                <a:solidFill>
                  <a:srgbClr val="3F3F3F"/>
                </a:solidFill>
              </a:rPr>
              <a:t>Scalability.</a:t>
            </a:r>
            <a:endParaRPr sz="1600">
              <a:solidFill>
                <a:srgbClr val="3F3F3F"/>
              </a:solidFill>
            </a:endParaRPr>
          </a:p>
          <a:p>
            <a:pPr marL="457200" lvl="0" indent="-32004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600">
                <a:solidFill>
                  <a:srgbClr val="3F3F3F"/>
                </a:solidFill>
              </a:rPr>
              <a:t>Low latency inference pipeline.</a:t>
            </a:r>
            <a:endParaRPr sz="1600">
              <a:solidFill>
                <a:srgbClr val="3F3F3F"/>
              </a:solidFill>
            </a:endParaRPr>
          </a:p>
          <a:p>
            <a:pPr marL="457200" lvl="0" indent="-32004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600">
                <a:solidFill>
                  <a:srgbClr val="3F3F3F"/>
                </a:solidFill>
              </a:rPr>
              <a:t>Cold-start solution for new user recommendations.</a:t>
            </a:r>
            <a:endParaRPr sz="1600">
              <a:solidFill>
                <a:srgbClr val="3F3F3F"/>
              </a:solidFill>
            </a:endParaRPr>
          </a:p>
          <a:p>
            <a:pPr marL="457200" lvl="0" indent="-32004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600">
                <a:solidFill>
                  <a:srgbClr val="3F3F3F"/>
                </a:solidFill>
              </a:rPr>
              <a:t>Production-ready reusable models.</a:t>
            </a:r>
            <a:endParaRPr sz="1600">
              <a:solidFill>
                <a:srgbClr val="3F3F3F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Data Pipeline Architecture</a:t>
            </a:r>
            <a:endParaRPr/>
          </a:p>
        </p:txBody>
      </p:sp>
      <p:pic>
        <p:nvPicPr>
          <p:cNvPr id="285" name="Google Shape;28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225" y="2119750"/>
            <a:ext cx="3046100" cy="457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7550" y="2358725"/>
            <a:ext cx="5673775" cy="399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Model - ALS</a:t>
            </a:r>
            <a:endParaRPr/>
          </a:p>
        </p:txBody>
      </p:sp>
      <p:sp>
        <p:nvSpPr>
          <p:cNvPr id="292" name="Google Shape;292;p6"/>
          <p:cNvSpPr txBox="1">
            <a:spLocks noGrp="1"/>
          </p:cNvSpPr>
          <p:nvPr>
            <p:ph type="body" idx="1"/>
          </p:nvPr>
        </p:nvSpPr>
        <p:spPr>
          <a:xfrm>
            <a:off x="864374" y="2489200"/>
            <a:ext cx="7323600" cy="3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3F3F3F"/>
                </a:solidFill>
              </a:rPr>
              <a:t>ALS (Alternating Least Squares)</a:t>
            </a:r>
            <a:endParaRPr b="1" dirty="0">
              <a:solidFill>
                <a:srgbClr val="3F3F3F"/>
              </a:solidFill>
            </a:endParaRPr>
          </a:p>
          <a:p>
            <a:pPr marL="457200" lvl="0" indent="-3200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dirty="0">
                <a:solidFill>
                  <a:srgbClr val="3F3F3F"/>
                </a:solidFill>
              </a:rPr>
              <a:t>Matrix factorization: R ≈ U × Vᵀ.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en-IN" dirty="0"/>
              <a:t>Decomposes user-item rating matrix into two lower-rank matrices: </a:t>
            </a:r>
          </a:p>
          <a:p>
            <a:pPr lvl="1">
              <a:lnSpc>
                <a:spcPct val="160000"/>
              </a:lnSpc>
              <a:spcBef>
                <a:spcPts val="0"/>
              </a:spcBef>
            </a:pPr>
            <a:r>
              <a:rPr lang="en-IN" dirty="0"/>
              <a:t>User factors (162,541 users × rank)</a:t>
            </a:r>
          </a:p>
          <a:p>
            <a:pPr lvl="1">
              <a:lnSpc>
                <a:spcPct val="160000"/>
              </a:lnSpc>
              <a:spcBef>
                <a:spcPts val="0"/>
              </a:spcBef>
            </a:pPr>
            <a:r>
              <a:rPr lang="en-IN" dirty="0"/>
              <a:t>Item factors (62,423 movies × rank)</a:t>
            </a:r>
            <a:endParaRPr dirty="0">
              <a:solidFill>
                <a:srgbClr val="3F3F3F"/>
              </a:solidFill>
            </a:endParaRPr>
          </a:p>
          <a:p>
            <a:pPr marL="457200" lvl="0" indent="-3200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dirty="0">
                <a:solidFill>
                  <a:srgbClr val="3F3F3F"/>
                </a:solidFill>
              </a:rPr>
              <a:t>Learns User Preferences</a:t>
            </a:r>
            <a:endParaRPr dirty="0">
              <a:solidFill>
                <a:srgbClr val="3F3F3F"/>
              </a:solidFill>
            </a:endParaRPr>
          </a:p>
          <a:p>
            <a:pPr marL="457200" lvl="0" indent="-3200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dirty="0">
                <a:solidFill>
                  <a:srgbClr val="3F3F3F"/>
                </a:solidFill>
              </a:rPr>
              <a:t>Discovers hidden patterns</a:t>
            </a:r>
            <a:endParaRPr dirty="0">
              <a:solidFill>
                <a:srgbClr val="3F3F3F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A5300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457200" lvl="0" indent="-3200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dirty="0">
                <a:solidFill>
                  <a:srgbClr val="3F3F3F"/>
                </a:solidFill>
              </a:rPr>
              <a:t>3-fold cross-validation (8 configurations)</a:t>
            </a:r>
            <a:endParaRPr dirty="0">
              <a:solidFill>
                <a:srgbClr val="3F3F3F"/>
              </a:solidFill>
            </a:endParaRPr>
          </a:p>
          <a:p>
            <a:pPr marL="457200" lvl="0" indent="-3200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u="sng" dirty="0">
                <a:solidFill>
                  <a:srgbClr val="3F3F3F"/>
                </a:solidFill>
              </a:rPr>
              <a:t>Best Parameters</a:t>
            </a:r>
            <a:r>
              <a:rPr lang="en-GB" dirty="0">
                <a:solidFill>
                  <a:srgbClr val="3F3F3F"/>
                </a:solidFill>
              </a:rPr>
              <a:t>: (Rank – 30, Max Iterations – 20, Regularization – 0.1)</a:t>
            </a:r>
            <a:endParaRPr dirty="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Why ALS over other CF Algos ?</a:t>
            </a:r>
            <a:endParaRPr/>
          </a:p>
        </p:txBody>
      </p:sp>
      <p:graphicFrame>
        <p:nvGraphicFramePr>
          <p:cNvPr id="298" name="Google Shape;298;p7"/>
          <p:cNvGraphicFramePr/>
          <p:nvPr/>
        </p:nvGraphicFramePr>
        <p:xfrm>
          <a:off x="865975" y="2521525"/>
          <a:ext cx="7610475" cy="3840254"/>
        </p:xfrm>
        <a:graphic>
          <a:graphicData uri="http://schemas.openxmlformats.org/drawingml/2006/table">
            <a:tbl>
              <a:tblPr>
                <a:noFill/>
                <a:tableStyleId>{41E0A92E-3E29-4745-B6D7-8334E3B4AEC4}</a:tableStyleId>
              </a:tblPr>
              <a:tblGrid>
                <a:gridCol w="193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/>
                        <a:t>Algorithm</a:t>
                      </a:r>
                      <a:endParaRPr sz="1800" b="1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/>
                        <a:t>Pros</a:t>
                      </a:r>
                      <a:endParaRPr sz="1800" b="1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/>
                        <a:t>Cons</a:t>
                      </a:r>
                      <a:endParaRPr sz="1800" b="1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/>
                        <a:t>Our Choice</a:t>
                      </a:r>
                      <a:endParaRPr sz="1800" b="1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5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/>
                        <a:t>ALS (Alternative Least Squares)</a:t>
                      </a:r>
                      <a:endParaRPr sz="1000" b="1" dirty="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Handles sparse data</a:t>
                      </a:r>
                      <a:endParaRPr sz="1000" b="1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1000"/>
                      </a:br>
                      <a:r>
                        <a:rPr lang="en-GB" sz="1000" b="1"/>
                        <a:t>Parallelizable</a:t>
                      </a:r>
                      <a:endParaRPr sz="1000" b="1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1000"/>
                      </a:br>
                      <a:r>
                        <a:rPr lang="en-GB" sz="1000"/>
                        <a:t>Implicit feedback support</a:t>
                      </a:r>
                      <a:endParaRPr sz="10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1000"/>
                      </a:br>
                      <a:r>
                        <a:rPr lang="en-GB" sz="1000"/>
                        <a:t>Proven at scale (Netflix, Spotify)</a:t>
                      </a:r>
                      <a:endParaRPr sz="100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Cold-start problem</a:t>
                      </a:r>
                      <a:endParaRPr sz="100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CHOSEN</a:t>
                      </a:r>
                      <a:endParaRPr sz="1000" b="1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SVD (Singular Value Decomposition)</a:t>
                      </a:r>
                      <a:endParaRPr sz="100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Accurate</a:t>
                      </a:r>
                      <a:endParaRPr sz="100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Not parallelizable</a:t>
                      </a:r>
                      <a:br>
                        <a:rPr lang="en-GB" sz="1000"/>
                      </a:br>
                      <a:r>
                        <a:rPr lang="en-GB" sz="1000"/>
                        <a:t>Requires dense matrix</a:t>
                      </a:r>
                      <a:endParaRPr sz="100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❌</a:t>
                      </a:r>
                      <a:endParaRPr sz="100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KNN (K Nearest Neighbors)</a:t>
                      </a:r>
                      <a:endParaRPr sz="100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Simple</a:t>
                      </a:r>
                      <a:endParaRPr sz="100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O(n²) complexity</a:t>
                      </a:r>
                      <a:br>
                        <a:rPr lang="en-GB" sz="1000"/>
                      </a:br>
                      <a:r>
                        <a:rPr lang="en-GB" sz="1000"/>
                        <a:t>Doesn't scale</a:t>
                      </a:r>
                      <a:endParaRPr sz="100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❌</a:t>
                      </a:r>
                      <a:endParaRPr sz="100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Neural CF</a:t>
                      </a:r>
                      <a:endParaRPr sz="100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State-of-art</a:t>
                      </a:r>
                      <a:endParaRPr sz="100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Requires GPU</a:t>
                      </a:r>
                      <a:br>
                        <a:rPr lang="en-GB" sz="1000"/>
                      </a:br>
                      <a:r>
                        <a:rPr lang="en-GB" sz="1000"/>
                        <a:t>Complex tuning</a:t>
                      </a:r>
                      <a:br>
                        <a:rPr lang="en-GB" sz="1000"/>
                      </a:br>
                      <a:r>
                        <a:rPr lang="en-GB" sz="1000"/>
                        <a:t>Overkill for this dataset</a:t>
                      </a:r>
                      <a:endParaRPr sz="100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/>
                        <a:t>❌</a:t>
                      </a:r>
                      <a:endParaRPr sz="1000" dirty="0"/>
                    </a:p>
                  </a:txBody>
                  <a:tcPr marL="67825" marR="67825" marT="33900" marB="33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ALS Hyperparameter Tuning</a:t>
            </a:r>
            <a:endParaRPr/>
          </a:p>
        </p:txBody>
      </p:sp>
      <p:pic>
        <p:nvPicPr>
          <p:cNvPr id="304" name="Google Shape;30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125" y="2606875"/>
            <a:ext cx="4222420" cy="2217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5" name="Google Shape;305;p8"/>
          <p:cNvGraphicFramePr/>
          <p:nvPr/>
        </p:nvGraphicFramePr>
        <p:xfrm>
          <a:off x="4963375" y="2386450"/>
          <a:ext cx="3800475" cy="4286250"/>
        </p:xfrm>
        <a:graphic>
          <a:graphicData uri="http://schemas.openxmlformats.org/drawingml/2006/table">
            <a:tbl>
              <a:tblPr>
                <a:noFill/>
                <a:tableStyleId>{41E0A92E-3E29-4745-B6D7-8334E3B4AEC4}</a:tableStyleId>
              </a:tblPr>
              <a:tblGrid>
                <a:gridCol w="81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Config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Rank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Max Iter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Reg Param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RMSE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0.01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0.8292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0.8123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0.01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0.8259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0.8077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0.01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0.8749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0.8100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0.01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0.8711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8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30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20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0.1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 dirty="0"/>
                        <a:t>0.8034</a:t>
                      </a:r>
                      <a:endParaRPr b="1" dirty="0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Hyperparameter Impact on Model Performance</a:t>
            </a:r>
            <a:endParaRPr/>
          </a:p>
        </p:txBody>
      </p:sp>
      <p:pic>
        <p:nvPicPr>
          <p:cNvPr id="311" name="Google Shape;31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828463"/>
            <a:ext cx="8839198" cy="2504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ALS vs Baseline Model</a:t>
            </a:r>
            <a:endParaRPr/>
          </a:p>
        </p:txBody>
      </p:sp>
      <p:graphicFrame>
        <p:nvGraphicFramePr>
          <p:cNvPr id="317" name="Google Shape;317;p10"/>
          <p:cNvGraphicFramePr/>
          <p:nvPr/>
        </p:nvGraphicFramePr>
        <p:xfrm>
          <a:off x="1209600" y="2438400"/>
          <a:ext cx="6343650" cy="2163702"/>
        </p:xfrm>
        <a:graphic>
          <a:graphicData uri="http://schemas.openxmlformats.org/drawingml/2006/table">
            <a:tbl>
              <a:tblPr>
                <a:noFill/>
                <a:tableStyleId>{41E0A92E-3E29-4745-B6D7-8334E3B4AEC4}</a:tableStyleId>
              </a:tblPr>
              <a:tblGrid>
                <a:gridCol w="164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 dirty="0"/>
                        <a:t>Metric</a:t>
                      </a:r>
                      <a:endParaRPr b="1" dirty="0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Baseline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Our Model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Improvement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RMSE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0.9571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0.8011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rgbClr val="00B050"/>
                          </a:solidFill>
                        </a:rPr>
                        <a:t>16.30%</a:t>
                      </a:r>
                      <a:r>
                        <a:rPr lang="en-GB">
                          <a:solidFill>
                            <a:srgbClr val="00B050"/>
                          </a:solidFill>
                        </a:rPr>
                        <a:t> ↓</a:t>
                      </a:r>
                      <a:endParaRPr>
                        <a:solidFill>
                          <a:srgbClr val="00B050"/>
                        </a:solidFill>
                      </a:endParaRPr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MAE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0.7398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0.6195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rgbClr val="00B050"/>
                          </a:solidFill>
                        </a:rPr>
                        <a:t>16.27%</a:t>
                      </a:r>
                      <a:r>
                        <a:rPr lang="en-GB">
                          <a:solidFill>
                            <a:srgbClr val="00B050"/>
                          </a:solidFill>
                        </a:rPr>
                        <a:t> ↓</a:t>
                      </a:r>
                      <a:endParaRPr>
                        <a:solidFill>
                          <a:srgbClr val="00B050"/>
                        </a:solidFill>
                      </a:endParaRPr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Precision@10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0.30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0.65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rgbClr val="00B050"/>
                          </a:solidFill>
                        </a:rPr>
                        <a:t>65% accuracy</a:t>
                      </a:r>
                      <a:endParaRPr b="1">
                        <a:solidFill>
                          <a:srgbClr val="00B050"/>
                        </a:solidFill>
                      </a:endParaRPr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Training Time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0s</a:t>
                      </a:r>
                      <a:endParaRPr dirty="0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~120-150 min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Acceptable with single machine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Inference Time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&lt;1s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2-3s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Fast</a:t>
                      </a:r>
                      <a:endParaRPr dirty="0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18" name="Google Shape;31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600" y="4883725"/>
            <a:ext cx="5285650" cy="19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Model - </a:t>
            </a:r>
            <a:r>
              <a:rPr lang="en-GB" sz="3200"/>
              <a:t>LSH</a:t>
            </a:r>
            <a:endParaRPr/>
          </a:p>
        </p:txBody>
      </p:sp>
      <p:sp>
        <p:nvSpPr>
          <p:cNvPr id="324" name="Google Shape;324;p11"/>
          <p:cNvSpPr txBox="1">
            <a:spLocks noGrp="1"/>
          </p:cNvSpPr>
          <p:nvPr>
            <p:ph type="body" idx="1"/>
          </p:nvPr>
        </p:nvSpPr>
        <p:spPr>
          <a:xfrm>
            <a:off x="434614" y="2333752"/>
            <a:ext cx="4676882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LSH (Locality Sensitive Hashing)</a:t>
            </a:r>
            <a:endParaRPr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Approximate nearest </a:t>
            </a:r>
            <a:r>
              <a:rPr lang="en-GB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neighbor</a:t>
            </a: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search algorithm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Maps similar items to same "buckets" using hash functions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Enables fast similarity search in high-dimensional spaces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Projections from 1128-d to lower dim space.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User History Needed.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for Cold-Start Problem Handling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400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Bucket Length: 2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Controls granularity. Balances precision vs recall.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 Tables: 3 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Hash Table uses different random projections.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Dimensions: 1128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C659F7-FFEF-80BD-F298-BC321A3FCC2B}"/>
              </a:ext>
            </a:extLst>
          </p:cNvPr>
          <p:cNvSpPr txBox="1"/>
          <p:nvPr/>
        </p:nvSpPr>
        <p:spPr>
          <a:xfrm>
            <a:off x="4946904" y="2459736"/>
            <a:ext cx="3931920" cy="3162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1. </a:t>
            </a:r>
            <a:r>
              <a:rPr lang="en-IN" sz="1200" b="1" dirty="0"/>
              <a:t>Random Projection</a:t>
            </a:r>
            <a:r>
              <a:rPr lang="en-IN" sz="1200" dirty="0"/>
              <a:t>:</a:t>
            </a:r>
          </a:p>
          <a:p>
            <a:r>
              <a:rPr lang="en-IN" sz="1200" dirty="0"/>
              <a:t>   - Generate 3 random hyperplanes in 1,128-dim space</a:t>
            </a:r>
          </a:p>
          <a:p>
            <a:r>
              <a:rPr lang="en-IN" sz="1200" dirty="0"/>
              <a:t>   - Each hyperplane divides space into 2 regions</a:t>
            </a:r>
          </a:p>
          <a:p>
            <a:endParaRPr lang="en-IN" sz="1200" dirty="0"/>
          </a:p>
          <a:p>
            <a:r>
              <a:rPr lang="en-IN" sz="1200" dirty="0"/>
              <a:t>2. </a:t>
            </a:r>
            <a:r>
              <a:rPr lang="en-IN" sz="1200" b="1" dirty="0"/>
              <a:t>Hashing</a:t>
            </a:r>
            <a:r>
              <a:rPr lang="en-IN" sz="1200" dirty="0"/>
              <a:t>:</a:t>
            </a:r>
          </a:p>
          <a:p>
            <a:r>
              <a:rPr lang="en-IN" sz="1200" dirty="0"/>
              <a:t>   - For each movie vector, determine which side of hyperplane</a:t>
            </a:r>
          </a:p>
          <a:p>
            <a:r>
              <a:rPr lang="en-IN" sz="1200" dirty="0"/>
              <a:t>   - Create binary hash code (e.g., [1, 0, 1])</a:t>
            </a:r>
          </a:p>
          <a:p>
            <a:endParaRPr lang="en-IN" sz="1200" dirty="0"/>
          </a:p>
          <a:p>
            <a:r>
              <a:rPr lang="en-IN" sz="1200" dirty="0"/>
              <a:t>3. </a:t>
            </a:r>
            <a:r>
              <a:rPr lang="en-IN" sz="1200" b="1" dirty="0"/>
              <a:t>Bucketing</a:t>
            </a:r>
            <a:r>
              <a:rPr lang="en-IN" sz="1200" dirty="0"/>
              <a:t>:</a:t>
            </a:r>
          </a:p>
          <a:p>
            <a:r>
              <a:rPr lang="en-IN" sz="1200" dirty="0"/>
              <a:t>   - Movies with same hash code → same bucket</a:t>
            </a:r>
          </a:p>
          <a:p>
            <a:r>
              <a:rPr lang="en-IN" sz="1200" dirty="0"/>
              <a:t>   - Similar movies likely in same bucket</a:t>
            </a:r>
          </a:p>
          <a:p>
            <a:endParaRPr lang="en-IN" sz="1200" dirty="0"/>
          </a:p>
          <a:p>
            <a:r>
              <a:rPr lang="en-IN" sz="1200" dirty="0"/>
              <a:t>4. </a:t>
            </a:r>
            <a:r>
              <a:rPr lang="en-IN" sz="1200" b="1" dirty="0"/>
              <a:t>Similarity Search</a:t>
            </a:r>
            <a:r>
              <a:rPr lang="en-IN" sz="1200" dirty="0"/>
              <a:t>:</a:t>
            </a:r>
          </a:p>
          <a:p>
            <a:r>
              <a:rPr lang="en-IN" sz="1200" dirty="0"/>
              <a:t>   - Query movie's bucket</a:t>
            </a:r>
          </a:p>
          <a:p>
            <a:r>
              <a:rPr lang="en-IN" sz="1200" dirty="0"/>
              <a:t>   - Return nearby movies (approximate </a:t>
            </a:r>
            <a:r>
              <a:rPr lang="en-IN" sz="1200" dirty="0" err="1"/>
              <a:t>neighbors</a:t>
            </a:r>
            <a:r>
              <a:rPr lang="en-IN" sz="1200" dirty="0"/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Model - </a:t>
            </a:r>
            <a:r>
              <a:rPr lang="en-GB" sz="3200"/>
              <a:t>Hybrid Recommendation Engine</a:t>
            </a:r>
            <a:endParaRPr/>
          </a:p>
        </p:txBody>
      </p:sp>
      <p:graphicFrame>
        <p:nvGraphicFramePr>
          <p:cNvPr id="330" name="Google Shape;330;p12"/>
          <p:cNvGraphicFramePr/>
          <p:nvPr/>
        </p:nvGraphicFramePr>
        <p:xfrm>
          <a:off x="865975" y="2344900"/>
          <a:ext cx="7610475" cy="3895725"/>
        </p:xfrm>
        <a:graphic>
          <a:graphicData uri="http://schemas.openxmlformats.org/drawingml/2006/table">
            <a:tbl>
              <a:tblPr>
                <a:noFill/>
                <a:tableStyleId>{41E0A92E-3E29-4745-B6D7-8334E3B4AEC4}</a:tableStyleId>
              </a:tblPr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Approach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Strengths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Weaknesses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Collaborative Filtering (ALS)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Discovers hidden patterns</a:t>
                      </a:r>
                      <a:br>
                        <a:rPr lang="en-GB"/>
                      </a:br>
                      <a:r>
                        <a:rPr lang="en-GB"/>
                        <a:t>Personalized to user behavior</a:t>
                      </a:r>
                      <a:br>
                        <a:rPr lang="en-GB"/>
                      </a:br>
                      <a:r>
                        <a:rPr lang="en-GB"/>
                        <a:t>No domain knowledge needed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Cold-start problem</a:t>
                      </a:r>
                      <a:br>
                        <a:rPr lang="en-GB"/>
                      </a:br>
                      <a:r>
                        <a:rPr lang="en-GB"/>
                        <a:t>Popularity bias</a:t>
                      </a:r>
                      <a:br>
                        <a:rPr lang="en-GB"/>
                      </a:br>
                      <a:r>
                        <a:rPr lang="en-GB"/>
                        <a:t>Sparsity issues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Content-Based (LSH)</a:t>
                      </a:r>
                      <a:endParaRPr b="1"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No cold-start</a:t>
                      </a:r>
                      <a:br>
                        <a:rPr lang="en-GB"/>
                      </a:br>
                      <a:r>
                        <a:rPr lang="en-GB"/>
                        <a:t>Explainable</a:t>
                      </a:r>
                      <a:br>
                        <a:rPr lang="en-GB"/>
                      </a:br>
                      <a:r>
                        <a:rPr lang="en-GB"/>
                        <a:t>Works for new items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Limited serendipity</a:t>
                      </a:r>
                      <a:br>
                        <a:rPr lang="en-GB"/>
                      </a:br>
                      <a:r>
                        <a:rPr lang="en-GB"/>
                        <a:t>Over-specialization</a:t>
                      </a:r>
                      <a:br>
                        <a:rPr lang="en-GB"/>
                      </a:br>
                      <a:r>
                        <a:rPr lang="en-GB"/>
                        <a:t>Requires features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3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Hybrid (70% CF + 30% Content)</a:t>
                      </a:r>
                      <a:endParaRPr b="1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hybrid_score = 0.7 × cf_score + 0.3 × content_score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Best of both worlds</a:t>
                      </a:r>
                      <a:br>
                        <a:rPr lang="en-GB"/>
                      </a:br>
                      <a:r>
                        <a:rPr lang="en-GB"/>
                        <a:t>Handles cold-start</a:t>
                      </a:r>
                      <a:br>
                        <a:rPr lang="en-GB"/>
                      </a:br>
                      <a:r>
                        <a:rPr lang="en-GB"/>
                        <a:t>Diverse recommendations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More complex</a:t>
                      </a:r>
                      <a:endParaRPr/>
                    </a:p>
                  </a:txBody>
                  <a:tcPr marL="95250" marR="95250" marT="47625" marB="476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Big Data Platform</a:t>
            </a:r>
            <a:endParaRPr/>
          </a:p>
        </p:txBody>
      </p:sp>
      <p:graphicFrame>
        <p:nvGraphicFramePr>
          <p:cNvPr id="336" name="Google Shape;336;p13"/>
          <p:cNvGraphicFramePr/>
          <p:nvPr/>
        </p:nvGraphicFramePr>
        <p:xfrm>
          <a:off x="865975" y="2417625"/>
          <a:ext cx="7610475" cy="3829050"/>
        </p:xfrm>
        <a:graphic>
          <a:graphicData uri="http://schemas.openxmlformats.org/drawingml/2006/table">
            <a:tbl>
              <a:tblPr>
                <a:noFill/>
                <a:tableStyleId>{41E0A92E-3E29-4745-B6D7-8334E3B4AEC4}</a:tableStyleId>
              </a:tblPr>
              <a:tblGrid>
                <a:gridCol w="253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Layer</a:t>
                      </a:r>
                      <a:endParaRPr b="1"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Technology</a:t>
                      </a:r>
                      <a:endParaRPr b="1"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Purpose</a:t>
                      </a:r>
                      <a:endParaRPr b="1"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Data Processing</a:t>
                      </a:r>
                      <a:endParaRPr b="1"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PySpark 4.0.1</a:t>
                      </a:r>
                      <a:endParaRPr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Distributed processing of 25M records</a:t>
                      </a:r>
                      <a:endParaRPr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Storage</a:t>
                      </a:r>
                      <a:endParaRPr b="1"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Parquet</a:t>
                      </a:r>
                      <a:endParaRPr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Columnar storage for efficient I/O</a:t>
                      </a:r>
                      <a:endParaRPr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ML Framework</a:t>
                      </a:r>
                      <a:endParaRPr b="1"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PySpark MLlib</a:t>
                      </a:r>
                      <a:endParaRPr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ALS, LSH, model persistence</a:t>
                      </a:r>
                      <a:endParaRPr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 dirty="0"/>
                        <a:t>Web Framework</a:t>
                      </a:r>
                      <a:endParaRPr b="1" dirty="0"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Streamlit 1.50.0</a:t>
                      </a:r>
                      <a:endParaRPr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Interactive UI</a:t>
                      </a:r>
                      <a:endParaRPr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Runtime</a:t>
                      </a:r>
                      <a:endParaRPr b="1"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Java 17</a:t>
                      </a:r>
                      <a:endParaRPr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Required for PySpark 4.x</a:t>
                      </a:r>
                      <a:endParaRPr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Language</a:t>
                      </a:r>
                      <a:endParaRPr b="1"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Python 3.9+</a:t>
                      </a:r>
                      <a:endParaRPr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Core development</a:t>
                      </a:r>
                      <a:endParaRPr dirty="0"/>
                    </a:p>
                  </a:txBody>
                  <a:tcPr marL="123825" marR="123825" marT="57150" marB="57150" anchor="ctr">
                    <a:lnL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9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 txBox="1">
            <a:spLocks noGrp="1"/>
          </p:cNvSpPr>
          <p:nvPr>
            <p:ph type="title"/>
          </p:nvPr>
        </p:nvSpPr>
        <p:spPr>
          <a:xfrm>
            <a:off x="865975" y="927100"/>
            <a:ext cx="69687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Scalability &amp; Performance Goals</a:t>
            </a:r>
            <a:endParaRPr/>
          </a:p>
        </p:txBody>
      </p:sp>
      <p:pic>
        <p:nvPicPr>
          <p:cNvPr id="342" name="Google Shape;3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174" y="2275600"/>
            <a:ext cx="4079125" cy="442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1161" y="2410536"/>
            <a:ext cx="3358164" cy="203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1699" y="4599861"/>
            <a:ext cx="2205419" cy="2105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b636fb767_1_27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8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Scalability &amp; Performance Metrics</a:t>
            </a:r>
            <a:endParaRPr/>
          </a:p>
        </p:txBody>
      </p:sp>
      <p:sp>
        <p:nvSpPr>
          <p:cNvPr id="350" name="Google Shape;350;g3ab636fb767_1_27"/>
          <p:cNvSpPr txBox="1"/>
          <p:nvPr/>
        </p:nvSpPr>
        <p:spPr>
          <a:xfrm>
            <a:off x="962900" y="2836725"/>
            <a:ext cx="531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Processing Performance:</a:t>
            </a: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51" name="Google Shape;351;g3ab636fb767_1_27"/>
          <p:cNvGraphicFramePr/>
          <p:nvPr/>
        </p:nvGraphicFramePr>
        <p:xfrm>
          <a:off x="962900" y="3352800"/>
          <a:ext cx="7115175" cy="3105650"/>
        </p:xfrm>
        <a:graphic>
          <a:graphicData uri="http://schemas.openxmlformats.org/drawingml/2006/table">
            <a:tbl>
              <a:tblPr>
                <a:noFill/>
                <a:tableStyleId>{41E0A92E-3E29-4745-B6D7-8334E3B4AEC4}</a:tableStyleId>
              </a:tblPr>
              <a:tblGrid>
                <a:gridCol w="227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 sz="1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Size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Processing Time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Loading (CSV → </a:t>
                      </a:r>
                      <a:r>
                        <a:rPr lang="en-GB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PySpark</a:t>
                      </a:r>
                      <a:r>
                        <a:rPr lang="en-GB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1.1GB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 sec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8GB RAM, 2 cores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Genome Vector Creaton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15M records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min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Distributed Spark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ALS Training (10 iterations)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25M ratings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120-150 min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8GB RAM, 2 cores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LSH Model Training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62K items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min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 node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Parquet Conversion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1.1GB → 400MB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min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Distributed I/O</a:t>
                      </a:r>
                      <a:endParaRPr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Scalability &amp; Performance Metrics</a:t>
            </a:r>
            <a:endParaRPr/>
          </a:p>
        </p:txBody>
      </p:sp>
      <p:sp>
        <p:nvSpPr>
          <p:cNvPr id="357" name="Google Shape;357;p15"/>
          <p:cNvSpPr txBox="1"/>
          <p:nvPr/>
        </p:nvSpPr>
        <p:spPr>
          <a:xfrm>
            <a:off x="765450" y="2495550"/>
            <a:ext cx="703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Inference Performance</a:t>
            </a:r>
            <a:r>
              <a:rPr lang="en-GB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(New Use Recommendation)</a:t>
            </a: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58" name="Google Shape;358;p15"/>
          <p:cNvGraphicFramePr/>
          <p:nvPr/>
        </p:nvGraphicFramePr>
        <p:xfrm>
          <a:off x="765450" y="3238500"/>
          <a:ext cx="7886700" cy="2136506"/>
        </p:xfrm>
        <a:graphic>
          <a:graphicData uri="http://schemas.openxmlformats.org/drawingml/2006/table">
            <a:tbl>
              <a:tblPr>
                <a:noFill/>
                <a:tableStyleId>{41E0A92E-3E29-4745-B6D7-8334E3B4AEC4}</a:tableStyleId>
              </a:tblPr>
              <a:tblGrid>
                <a:gridCol w="294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16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Latency</a:t>
                      </a:r>
                      <a:endParaRPr sz="16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sz="16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Load Pre-trained Models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 sec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Disk → Memory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LSH Cold-Start (5 ratings)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2.1 sec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Approximate NN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Recommendation Time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 sec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End-to-end</a:t>
                      </a:r>
                      <a:endParaRPr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Challenges &amp; Solutions</a:t>
            </a:r>
            <a:endParaRPr/>
          </a:p>
        </p:txBody>
      </p:sp>
      <p:sp>
        <p:nvSpPr>
          <p:cNvPr id="364" name="Google Shape;364;p16"/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87381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926"/>
              <a:buChar char="►"/>
            </a:pPr>
            <a:r>
              <a:rPr lang="en-GB" b="1">
                <a:solidFill>
                  <a:srgbClr val="3F3F3F"/>
                </a:solidFill>
              </a:rPr>
              <a:t>Cold-Start Problems: </a:t>
            </a:r>
            <a:endParaRPr b="1">
              <a:solidFill>
                <a:srgbClr val="3F3F3F"/>
              </a:solidFill>
            </a:endParaRPr>
          </a:p>
          <a:p>
            <a:pPr marL="914400" lvl="1" indent="-28738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26"/>
              <a:buChar char="►"/>
            </a:pPr>
            <a:r>
              <a:rPr lang="en-GB">
                <a:solidFill>
                  <a:srgbClr val="3F3F3F"/>
                </a:solidFill>
              </a:rPr>
              <a:t>LSH content-Based Filtering</a:t>
            </a:r>
            <a:endParaRPr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>
              <a:solidFill>
                <a:srgbClr val="3F3F3F"/>
              </a:solidFill>
            </a:endParaRPr>
          </a:p>
          <a:p>
            <a:pPr marL="457200" lvl="0" indent="-287381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926"/>
              <a:buChar char="►"/>
            </a:pPr>
            <a:r>
              <a:rPr lang="en-GB" b="1">
                <a:solidFill>
                  <a:srgbClr val="3F3F3F"/>
                </a:solidFill>
              </a:rPr>
              <a:t>25M Records: </a:t>
            </a:r>
            <a:endParaRPr b="1">
              <a:solidFill>
                <a:srgbClr val="3F3F3F"/>
              </a:solidFill>
            </a:endParaRPr>
          </a:p>
          <a:p>
            <a:pPr marL="914400" lvl="1" indent="-28738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26"/>
              <a:buChar char="►"/>
            </a:pPr>
            <a:r>
              <a:rPr lang="en-GB">
                <a:solidFill>
                  <a:srgbClr val="3F3F3F"/>
                </a:solidFill>
              </a:rPr>
              <a:t>PySpark Distributed Computing</a:t>
            </a:r>
            <a:endParaRPr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>
              <a:solidFill>
                <a:srgbClr val="3F3F3F"/>
              </a:solidFill>
            </a:endParaRPr>
          </a:p>
          <a:p>
            <a:pPr marL="457200" lvl="0" indent="-287381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926"/>
              <a:buChar char="►"/>
            </a:pPr>
            <a:r>
              <a:rPr lang="en-GB" b="1">
                <a:solidFill>
                  <a:srgbClr val="3F3F3F"/>
                </a:solidFill>
              </a:rPr>
              <a:t>99.75% Sparsity: </a:t>
            </a:r>
            <a:endParaRPr b="1">
              <a:solidFill>
                <a:srgbClr val="3F3F3F"/>
              </a:solidFill>
            </a:endParaRPr>
          </a:p>
          <a:p>
            <a:pPr marL="914400" lvl="1" indent="-28738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26"/>
              <a:buChar char="►"/>
            </a:pPr>
            <a:r>
              <a:rPr lang="en-GB">
                <a:solidFill>
                  <a:srgbClr val="3F3F3F"/>
                </a:solidFill>
              </a:rPr>
              <a:t>ALS + Normalization</a:t>
            </a:r>
            <a:endParaRPr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Live Demo</a:t>
            </a:r>
            <a:endParaRPr/>
          </a:p>
        </p:txBody>
      </p:sp>
      <p:sp>
        <p:nvSpPr>
          <p:cNvPr id="370" name="Google Shape;370;p17"/>
          <p:cNvSpPr txBox="1"/>
          <p:nvPr/>
        </p:nvSpPr>
        <p:spPr>
          <a:xfrm>
            <a:off x="865975" y="2379500"/>
            <a:ext cx="6553200" cy="21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5300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► </a:t>
            </a:r>
            <a:r>
              <a:rPr lang="en-GB" sz="16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Interactive Streamlit Web Application</a:t>
            </a:r>
            <a:endParaRPr sz="16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5300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► </a:t>
            </a:r>
            <a:r>
              <a:rPr lang="en-GB" sz="16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User rates 5 movies (e.g., Inception, Interstellar, Matrix)</a:t>
            </a:r>
            <a:endParaRPr sz="16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5300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► </a:t>
            </a:r>
            <a:r>
              <a:rPr lang="en-GB" sz="16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System generates 5 personalized recommendations</a:t>
            </a:r>
            <a:endParaRPr sz="16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5300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► </a:t>
            </a:r>
            <a:r>
              <a:rPr lang="en-GB" sz="16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Response time: 2-3 seconds</a:t>
            </a:r>
            <a:endParaRPr sz="16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GB">
                <a:solidFill>
                  <a:srgbClr val="A5300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► </a:t>
            </a:r>
            <a:r>
              <a:rPr lang="en-GB" sz="16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Demonstrates cold-start handling with LSH</a:t>
            </a:r>
            <a:endParaRPr sz="16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Conclusion &amp; Future Scope</a:t>
            </a:r>
            <a:endParaRPr/>
          </a:p>
        </p:txBody>
      </p:sp>
      <p:pic>
        <p:nvPicPr>
          <p:cNvPr id="376" name="Google Shape;37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849" y="2379525"/>
            <a:ext cx="3529176" cy="432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0459" y="2258400"/>
            <a:ext cx="3529175" cy="4394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b636fb767_1_58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8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Reference Links</a:t>
            </a:r>
            <a:endParaRPr/>
          </a:p>
        </p:txBody>
      </p:sp>
      <p:sp>
        <p:nvSpPr>
          <p:cNvPr id="383" name="Google Shape;383;g3ab636fb767_1_58"/>
          <p:cNvSpPr txBox="1"/>
          <p:nvPr/>
        </p:nvSpPr>
        <p:spPr>
          <a:xfrm>
            <a:off x="939600" y="2368700"/>
            <a:ext cx="7614000" cy="27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GB">
                <a:solidFill>
                  <a:srgbClr val="A5300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Github Repository: </a:t>
            </a:r>
            <a:r>
              <a:rPr lang="en-GB" u="sng">
                <a:solidFill>
                  <a:schemeClr val="hlink"/>
                </a:solidFill>
                <a:latin typeface="Noto Sans Symbols"/>
                <a:ea typeface="Noto Sans Symbols"/>
                <a:cs typeface="Noto Sans Symbols"/>
                <a:sym typeface="Noto Sans Symbols"/>
                <a:hlinkClick r:id="rId3"/>
              </a:rPr>
              <a:t>Movie Recommender-By-ScaleCraft</a:t>
            </a:r>
            <a:r>
              <a:rPr lang="en-GB">
                <a:solidFill>
                  <a:srgbClr val="A5300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endParaRPr>
              <a:solidFill>
                <a:srgbClr val="A5300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GB">
                <a:solidFill>
                  <a:srgbClr val="A5300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Project Report: </a:t>
            </a:r>
            <a:r>
              <a:rPr lang="en-GB" u="sng">
                <a:solidFill>
                  <a:schemeClr val="hlink"/>
                </a:solidFill>
                <a:latin typeface="Noto Sans Symbols"/>
                <a:ea typeface="Noto Sans Symbols"/>
                <a:cs typeface="Noto Sans Symbols"/>
                <a:sym typeface="Noto Sans Symbols"/>
                <a:hlinkClick r:id="rId4"/>
              </a:rPr>
              <a:t>ScaleCraft Project Report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GB">
                <a:solidFill>
                  <a:srgbClr val="A5300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ALS: </a:t>
            </a:r>
            <a:r>
              <a:rPr lang="en-GB" u="sng">
                <a:solidFill>
                  <a:schemeClr val="hlink"/>
                </a:solidFill>
                <a:latin typeface="Noto Sans Symbols"/>
                <a:ea typeface="Noto Sans Symbols"/>
                <a:cs typeface="Noto Sans Symbols"/>
                <a:sym typeface="Noto Sans Symbols"/>
                <a:hlinkClick r:id="rId5"/>
              </a:rPr>
              <a:t>Collaborative Filtering for Implicit Feedback datasets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GB">
                <a:solidFill>
                  <a:srgbClr val="A5300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LSH: </a:t>
            </a:r>
            <a:r>
              <a:rPr lang="en-GB" u="sng">
                <a:solidFill>
                  <a:schemeClr val="hlink"/>
                </a:solidFill>
                <a:latin typeface="Noto Sans Symbols"/>
                <a:ea typeface="Noto Sans Symbols"/>
                <a:cs typeface="Noto Sans Symbols"/>
                <a:sym typeface="Noto Sans Symbols"/>
                <a:hlinkClick r:id="rId6"/>
              </a:rPr>
              <a:t>Locality Sensitive Hashing Scheme on p-stable distribution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GB">
                <a:solidFill>
                  <a:srgbClr val="A5300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Movie Lens: </a:t>
            </a:r>
            <a:r>
              <a:rPr lang="en-GB" u="sng">
                <a:solidFill>
                  <a:schemeClr val="hlink"/>
                </a:solidFill>
                <a:latin typeface="Noto Sans Symbols"/>
                <a:ea typeface="Noto Sans Symbols"/>
                <a:cs typeface="Noto Sans Symbols"/>
                <a:sym typeface="Noto Sans Symbols"/>
                <a:hlinkClick r:id="rId7"/>
              </a:rPr>
              <a:t>25M Movie Ratings Dataset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endParaRPr>
              <a:solidFill>
                <a:srgbClr val="A5300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b636fb767_1_66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8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UI App Screenshots</a:t>
            </a:r>
            <a:endParaRPr/>
          </a:p>
        </p:txBody>
      </p:sp>
      <p:pic>
        <p:nvPicPr>
          <p:cNvPr id="389" name="Google Shape;389;g3ab636fb767_1_66" title="Screenshot 2025-11-29 at 6.03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200" y="1713698"/>
            <a:ext cx="7872236" cy="4916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b636fb767_1_72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8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GB"/>
              <a:t>UI App Screenshots</a:t>
            </a:r>
            <a:endParaRPr/>
          </a:p>
        </p:txBody>
      </p:sp>
      <p:pic>
        <p:nvPicPr>
          <p:cNvPr id="395" name="Google Shape;395;g3ab636fb767_1_72" title="Screenshot 2025-11-29 at 6.04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625" y="1900800"/>
            <a:ext cx="8283023" cy="480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2"/>
          <p:cNvSpPr txBox="1"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n-GB"/>
              <a:t>Queries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n Boardroom">
  <a:themeElements>
    <a:clrScheme name="Red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189e4fd-a2fa-47bf-9b21-17f706ee2968}" enabled="1" method="Privilege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939</Words>
  <Application>Microsoft Macintosh PowerPoint</Application>
  <PresentationFormat>On-screen Show (4:3)</PresentationFormat>
  <Paragraphs>266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Courier New</vt:lpstr>
      <vt:lpstr>Arial</vt:lpstr>
      <vt:lpstr>Calibri</vt:lpstr>
      <vt:lpstr>Aptos</vt:lpstr>
      <vt:lpstr>Century Gothic</vt:lpstr>
      <vt:lpstr>Noto Sans Symbols</vt:lpstr>
      <vt:lpstr>Ion Boardroom</vt:lpstr>
      <vt:lpstr>Movie Recommendation System Big Data Project</vt:lpstr>
      <vt:lpstr>Problem Definition</vt:lpstr>
      <vt:lpstr>Problem Motivation</vt:lpstr>
      <vt:lpstr>Design Goals</vt:lpstr>
      <vt:lpstr>Data Pipeline Architecture</vt:lpstr>
      <vt:lpstr>Model - ALS</vt:lpstr>
      <vt:lpstr>Why ALS over other CF Algos ?</vt:lpstr>
      <vt:lpstr>ALS Hyperparameter Tuning</vt:lpstr>
      <vt:lpstr>Hyperparameter Impact on Model Performance</vt:lpstr>
      <vt:lpstr>ALS vs Baseline Model</vt:lpstr>
      <vt:lpstr>Model - LSH</vt:lpstr>
      <vt:lpstr>Model - Hybrid Recommendation Engine</vt:lpstr>
      <vt:lpstr>Big Data Platform</vt:lpstr>
      <vt:lpstr>Scalability &amp; Performance Goals</vt:lpstr>
      <vt:lpstr>Scalability &amp; Performance Metrics</vt:lpstr>
      <vt:lpstr>Scalability &amp; Performance Metrics</vt:lpstr>
      <vt:lpstr>Challenges &amp; Solutions</vt:lpstr>
      <vt:lpstr>Live Demo</vt:lpstr>
      <vt:lpstr>Conclusion &amp; Future Scope</vt:lpstr>
      <vt:lpstr>Reference Links</vt:lpstr>
      <vt:lpstr>UI App Screenshots</vt:lpstr>
      <vt:lpstr>UI App Screenshots</vt:lpstr>
      <vt:lpstr>Queries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THANGARAJ N. (thann)</cp:lastModifiedBy>
  <cp:revision>4</cp:revision>
  <dcterms:created xsi:type="dcterms:W3CDTF">2013-01-27T09:14:16Z</dcterms:created>
  <dcterms:modified xsi:type="dcterms:W3CDTF">2025-11-30T06:36:51Z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Ion Boardroom:3</vt:lpwstr>
  </property>
  <property fmtid="{D5CDD505-2E9C-101B-9397-08002B2CF9AE}" pid="3" name="ClassificationContentMarkingFooterText">
    <vt:lpwstr>-</vt:lpwstr>
  </property>
</Properties>
</file>